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6" r:id="rId1"/>
  </p:sldMasterIdLst>
  <p:sldIdLst>
    <p:sldId id="256" r:id="rId2"/>
    <p:sldId id="257"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AB3A824-1A51-4B26-AD58-A6D8E14F6C04}" type="datetimeFigureOut">
              <a:rPr lang="en-US" smtClean="0"/>
              <a:t>11/25/2025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a:t>
              </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6D22F896-40B5-4ADD-8801-0D06FADFA09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6586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1176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8271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11/25/2025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251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11/25/2025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0319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11/25/2025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9822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11/25/2025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72605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11/25/2025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6325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11/25/2025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5755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27286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256988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50379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8919616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33540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338139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2572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11/25/2025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237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CBC1C18-307B-4F68-A007-B5B542270E8D}" type="datetimeFigureOut">
              <a:rPr lang="en-US" smtClean="0"/>
              <a:t>11/25/2025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
              </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0848228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1FA69-0DE0-1FD4-66F9-74FC51740E49}"/>
              </a:ext>
            </a:extLst>
          </p:cNvPr>
          <p:cNvSpPr>
            <a:spLocks noGrp="1"/>
          </p:cNvSpPr>
          <p:nvPr>
            <p:ph type="ctrTitle"/>
          </p:nvPr>
        </p:nvSpPr>
        <p:spPr>
          <a:xfrm>
            <a:off x="2245259" y="2716040"/>
            <a:ext cx="7677339" cy="1180152"/>
          </a:xfrm>
        </p:spPr>
        <p:txBody>
          <a:bodyPr bIns="288000">
            <a:normAutofit/>
          </a:bodyPr>
          <a:lstStyle/>
          <a:p>
            <a:r>
              <a:rPr lang="en-IN" sz="5000" dirty="0"/>
              <a:t>Project Management Model</a:t>
            </a:r>
          </a:p>
        </p:txBody>
      </p:sp>
    </p:spTree>
    <p:extLst>
      <p:ext uri="{BB962C8B-B14F-4D97-AF65-F5344CB8AC3E}">
        <p14:creationId xmlns:p14="http://schemas.microsoft.com/office/powerpoint/2010/main" val="4284518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E289-AC64-56D2-6D65-F23A18374893}"/>
              </a:ext>
            </a:extLst>
          </p:cNvPr>
          <p:cNvSpPr>
            <a:spLocks noGrp="1"/>
          </p:cNvSpPr>
          <p:nvPr>
            <p:ph type="title"/>
          </p:nvPr>
        </p:nvSpPr>
        <p:spPr>
          <a:xfrm>
            <a:off x="1295401" y="982132"/>
            <a:ext cx="3068368" cy="1303867"/>
          </a:xfrm>
        </p:spPr>
        <p:txBody>
          <a:bodyPr>
            <a:normAutofit fontScale="90000"/>
          </a:bodyPr>
          <a:lstStyle/>
          <a:p>
            <a:r>
              <a:rPr lang="en-IN" dirty="0"/>
              <a:t>Waterfall Model</a:t>
            </a:r>
          </a:p>
        </p:txBody>
      </p:sp>
      <p:sp>
        <p:nvSpPr>
          <p:cNvPr id="3" name="Content Placeholder 2">
            <a:extLst>
              <a:ext uri="{FF2B5EF4-FFF2-40B4-BE49-F238E27FC236}">
                <a16:creationId xmlns:a16="http://schemas.microsoft.com/office/drawing/2014/main" id="{63CA789E-C6BF-6F5C-892F-645BEA02ED92}"/>
              </a:ext>
            </a:extLst>
          </p:cNvPr>
          <p:cNvSpPr>
            <a:spLocks noGrp="1"/>
          </p:cNvSpPr>
          <p:nvPr>
            <p:ph idx="1"/>
          </p:nvPr>
        </p:nvSpPr>
        <p:spPr>
          <a:xfrm>
            <a:off x="7675833" y="2506466"/>
            <a:ext cx="3068368" cy="3318936"/>
          </a:xfrm>
        </p:spPr>
        <p:txBody>
          <a:bodyPr>
            <a:normAutofit fontScale="85000" lnSpcReduction="20000"/>
          </a:bodyPr>
          <a:lstStyle/>
          <a:p>
            <a:r>
              <a:rPr lang="en-IN" b="1" dirty="0"/>
              <a:t>Approach</a:t>
            </a:r>
            <a:r>
              <a:rPr lang="en-IN" dirty="0"/>
              <a:t>: Agile framework.</a:t>
            </a:r>
          </a:p>
          <a:p>
            <a:r>
              <a:rPr lang="en-US" b="1" dirty="0"/>
              <a:t>How it works</a:t>
            </a:r>
            <a:r>
              <a:rPr lang="en-US" dirty="0"/>
              <a:t>: Scrum is an Agile framework that divides projects into short sprints, typically lasting 2-4 weeks. A Scrum Master ensures the process stays on track, while a Product Owner prioritizes tasks based on the project's goals.</a:t>
            </a:r>
            <a:endParaRPr lang="en-IN" dirty="0"/>
          </a:p>
        </p:txBody>
      </p:sp>
      <p:sp>
        <p:nvSpPr>
          <p:cNvPr id="4" name="Title 1">
            <a:extLst>
              <a:ext uri="{FF2B5EF4-FFF2-40B4-BE49-F238E27FC236}">
                <a16:creationId xmlns:a16="http://schemas.microsoft.com/office/drawing/2014/main" id="{62D32AA3-62DF-78A6-8F43-BD986614AA76}"/>
              </a:ext>
            </a:extLst>
          </p:cNvPr>
          <p:cNvSpPr txBox="1">
            <a:spLocks/>
          </p:cNvSpPr>
          <p:nvPr/>
        </p:nvSpPr>
        <p:spPr>
          <a:xfrm>
            <a:off x="4363769" y="975928"/>
            <a:ext cx="3068368" cy="1303867"/>
          </a:xfrm>
          <a:prstGeom prst="rect">
            <a:avLst/>
          </a:prstGeom>
          <a:effectLst/>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Agile</a:t>
            </a:r>
          </a:p>
          <a:p>
            <a:r>
              <a:rPr lang="en-IN" dirty="0"/>
              <a:t> Model</a:t>
            </a:r>
          </a:p>
        </p:txBody>
      </p:sp>
      <p:sp>
        <p:nvSpPr>
          <p:cNvPr id="5" name="Title 1">
            <a:extLst>
              <a:ext uri="{FF2B5EF4-FFF2-40B4-BE49-F238E27FC236}">
                <a16:creationId xmlns:a16="http://schemas.microsoft.com/office/drawing/2014/main" id="{AFB6C4DE-D0B8-1EC6-5F20-D29DB6706A44}"/>
              </a:ext>
            </a:extLst>
          </p:cNvPr>
          <p:cNvSpPr txBox="1">
            <a:spLocks/>
          </p:cNvSpPr>
          <p:nvPr/>
        </p:nvSpPr>
        <p:spPr>
          <a:xfrm>
            <a:off x="7432137" y="982132"/>
            <a:ext cx="3068368" cy="1303867"/>
          </a:xfrm>
          <a:prstGeom prst="rect">
            <a:avLst/>
          </a:prstGeom>
          <a:effectLst/>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Scrum</a:t>
            </a:r>
          </a:p>
          <a:p>
            <a:r>
              <a:rPr lang="en-IN" dirty="0"/>
              <a:t>Model</a:t>
            </a:r>
          </a:p>
        </p:txBody>
      </p:sp>
      <p:sp>
        <p:nvSpPr>
          <p:cNvPr id="6" name="Content Placeholder 2">
            <a:extLst>
              <a:ext uri="{FF2B5EF4-FFF2-40B4-BE49-F238E27FC236}">
                <a16:creationId xmlns:a16="http://schemas.microsoft.com/office/drawing/2014/main" id="{30FA7ECB-B29C-4BDD-CD72-340EAFE8C04E}"/>
              </a:ext>
            </a:extLst>
          </p:cNvPr>
          <p:cNvSpPr txBox="1">
            <a:spLocks/>
          </p:cNvSpPr>
          <p:nvPr/>
        </p:nvSpPr>
        <p:spPr>
          <a:xfrm>
            <a:off x="1295401" y="2506466"/>
            <a:ext cx="3068368" cy="3318936"/>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Linear and sequential.</a:t>
            </a:r>
          </a:p>
          <a:p>
            <a:r>
              <a:rPr lang="en-US" b="1" dirty="0"/>
              <a:t>How it works</a:t>
            </a:r>
            <a:r>
              <a:rPr lang="en-US" dirty="0"/>
              <a:t>: In this model, each phase of the project must be completed before the next phase begins. It's a step-by-step approach where requirements are defined upfront, and scope changes are typically difficult.</a:t>
            </a:r>
            <a:endParaRPr lang="en-IN" dirty="0"/>
          </a:p>
        </p:txBody>
      </p:sp>
      <p:sp>
        <p:nvSpPr>
          <p:cNvPr id="7" name="Content Placeholder 2">
            <a:extLst>
              <a:ext uri="{FF2B5EF4-FFF2-40B4-BE49-F238E27FC236}">
                <a16:creationId xmlns:a16="http://schemas.microsoft.com/office/drawing/2014/main" id="{63E9FBF6-BC62-4E31-BBC4-C16255F58A43}"/>
              </a:ext>
            </a:extLst>
          </p:cNvPr>
          <p:cNvSpPr txBox="1">
            <a:spLocks/>
          </p:cNvSpPr>
          <p:nvPr/>
        </p:nvSpPr>
        <p:spPr>
          <a:xfrm>
            <a:off x="4426769" y="2506466"/>
            <a:ext cx="3068368" cy="3318936"/>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Iterative and incremental.</a:t>
            </a:r>
          </a:p>
          <a:p>
            <a:r>
              <a:rPr lang="en-US" b="1" dirty="0"/>
              <a:t>How it works</a:t>
            </a:r>
            <a:r>
              <a:rPr lang="en-US" dirty="0"/>
              <a:t>: Agile focuses on delivering small, functional parts of a project at regular intervals (sprints). Feedback loops are integrated to continuously improve and refine the work. It allows flexibility and adaptation to change.</a:t>
            </a:r>
            <a:endParaRPr lang="en-IN" dirty="0"/>
          </a:p>
        </p:txBody>
      </p:sp>
    </p:spTree>
    <p:extLst>
      <p:ext uri="{BB962C8B-B14F-4D97-AF65-F5344CB8AC3E}">
        <p14:creationId xmlns:p14="http://schemas.microsoft.com/office/powerpoint/2010/main" val="104252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A028A-3F8E-650A-D622-770A22849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BF4A1-8CCD-8414-8A32-21F9A5AAFA58}"/>
              </a:ext>
            </a:extLst>
          </p:cNvPr>
          <p:cNvSpPr>
            <a:spLocks noGrp="1"/>
          </p:cNvSpPr>
          <p:nvPr>
            <p:ph type="title"/>
          </p:nvPr>
        </p:nvSpPr>
        <p:spPr>
          <a:xfrm>
            <a:off x="1295401" y="982132"/>
            <a:ext cx="3068368" cy="1303867"/>
          </a:xfrm>
        </p:spPr>
        <p:txBody>
          <a:bodyPr>
            <a:normAutofit fontScale="90000"/>
          </a:bodyPr>
          <a:lstStyle/>
          <a:p>
            <a:r>
              <a:rPr lang="en-IN" dirty="0"/>
              <a:t>Kanban</a:t>
            </a:r>
            <a:br>
              <a:rPr lang="en-IN" dirty="0"/>
            </a:br>
            <a:r>
              <a:rPr lang="en-IN" dirty="0"/>
              <a:t>Model</a:t>
            </a:r>
          </a:p>
        </p:txBody>
      </p:sp>
      <p:sp>
        <p:nvSpPr>
          <p:cNvPr id="3" name="Content Placeholder 2">
            <a:extLst>
              <a:ext uri="{FF2B5EF4-FFF2-40B4-BE49-F238E27FC236}">
                <a16:creationId xmlns:a16="http://schemas.microsoft.com/office/drawing/2014/main" id="{4B0FBEA1-CF91-C18C-6BBE-5B7000E723A4}"/>
              </a:ext>
            </a:extLst>
          </p:cNvPr>
          <p:cNvSpPr>
            <a:spLocks noGrp="1"/>
          </p:cNvSpPr>
          <p:nvPr>
            <p:ph idx="1"/>
          </p:nvPr>
        </p:nvSpPr>
        <p:spPr>
          <a:xfrm>
            <a:off x="7675833" y="2506466"/>
            <a:ext cx="3068368" cy="3318936"/>
          </a:xfrm>
        </p:spPr>
        <p:txBody>
          <a:bodyPr>
            <a:normAutofit fontScale="85000" lnSpcReduction="20000"/>
          </a:bodyPr>
          <a:lstStyle/>
          <a:p>
            <a:r>
              <a:rPr lang="en-IN" b="1" dirty="0"/>
              <a:t>Approach</a:t>
            </a:r>
            <a:r>
              <a:rPr lang="en-IN" dirty="0"/>
              <a:t>: Data-driven process improvement.</a:t>
            </a:r>
          </a:p>
          <a:p>
            <a:r>
              <a:rPr lang="en-US" b="1" dirty="0"/>
              <a:t>How it works</a:t>
            </a:r>
            <a:r>
              <a:rPr lang="en-US" dirty="0"/>
              <a:t>: Six Sigma focuses on improving processes by identifying defects and minimizing variation. It uses a structured approach known as DMAIC (Define, Measure, Analyze, Improve, Control).</a:t>
            </a:r>
          </a:p>
        </p:txBody>
      </p:sp>
      <p:sp>
        <p:nvSpPr>
          <p:cNvPr id="4" name="Title 1">
            <a:extLst>
              <a:ext uri="{FF2B5EF4-FFF2-40B4-BE49-F238E27FC236}">
                <a16:creationId xmlns:a16="http://schemas.microsoft.com/office/drawing/2014/main" id="{CB48668D-D4C3-9900-7104-C5F2D011F2E2}"/>
              </a:ext>
            </a:extLst>
          </p:cNvPr>
          <p:cNvSpPr txBox="1">
            <a:spLocks/>
          </p:cNvSpPr>
          <p:nvPr/>
        </p:nvSpPr>
        <p:spPr>
          <a:xfrm>
            <a:off x="4363769" y="975928"/>
            <a:ext cx="3068368" cy="1303867"/>
          </a:xfrm>
          <a:prstGeom prst="rect">
            <a:avLst/>
          </a:prstGeom>
          <a:effectLst/>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Lean</a:t>
            </a:r>
          </a:p>
          <a:p>
            <a:r>
              <a:rPr lang="en-IN" dirty="0"/>
              <a:t> Model</a:t>
            </a:r>
          </a:p>
        </p:txBody>
      </p:sp>
      <p:sp>
        <p:nvSpPr>
          <p:cNvPr id="5" name="Title 1">
            <a:extLst>
              <a:ext uri="{FF2B5EF4-FFF2-40B4-BE49-F238E27FC236}">
                <a16:creationId xmlns:a16="http://schemas.microsoft.com/office/drawing/2014/main" id="{C6793965-9D57-F746-8290-E1D285AC9696}"/>
              </a:ext>
            </a:extLst>
          </p:cNvPr>
          <p:cNvSpPr txBox="1">
            <a:spLocks/>
          </p:cNvSpPr>
          <p:nvPr/>
        </p:nvSpPr>
        <p:spPr>
          <a:xfrm>
            <a:off x="7432137" y="982132"/>
            <a:ext cx="3068368" cy="1303867"/>
          </a:xfrm>
          <a:prstGeom prst="rect">
            <a:avLst/>
          </a:prstGeom>
          <a:effectLst/>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Six Sigma</a:t>
            </a:r>
          </a:p>
          <a:p>
            <a:r>
              <a:rPr lang="en-IN" dirty="0"/>
              <a:t>Model</a:t>
            </a:r>
          </a:p>
        </p:txBody>
      </p:sp>
      <p:sp>
        <p:nvSpPr>
          <p:cNvPr id="6" name="Content Placeholder 2">
            <a:extLst>
              <a:ext uri="{FF2B5EF4-FFF2-40B4-BE49-F238E27FC236}">
                <a16:creationId xmlns:a16="http://schemas.microsoft.com/office/drawing/2014/main" id="{8E5DECDA-E702-660C-E5CE-F6C2E59A1DD5}"/>
              </a:ext>
            </a:extLst>
          </p:cNvPr>
          <p:cNvSpPr txBox="1">
            <a:spLocks/>
          </p:cNvSpPr>
          <p:nvPr/>
        </p:nvSpPr>
        <p:spPr>
          <a:xfrm>
            <a:off x="1295401" y="2506466"/>
            <a:ext cx="3068368" cy="3318936"/>
          </a:xfrm>
          <a:prstGeom prst="rect">
            <a:avLst/>
          </a:prstGeom>
        </p:spPr>
        <p:txBody>
          <a:bodyPr vert="horz" lIns="91440" tIns="45720" rIns="91440" bIns="45720" rtlCol="0" anchor="t">
            <a:normAutofit fontScale="77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Visual and flow-based.</a:t>
            </a:r>
          </a:p>
          <a:p>
            <a:r>
              <a:rPr lang="en-US" b="1" dirty="0"/>
              <a:t>How it works</a:t>
            </a:r>
            <a:r>
              <a:rPr lang="en-US" dirty="0"/>
              <a:t>: Kanban uses a visual board (e.g., Trello) to manage tasks. The work is divided into stages like "To Do," "In Progress," and "Done," and teams move tasks through these stages. It helps to visualize work, maximize efficiency, and limit work in progress.</a:t>
            </a:r>
            <a:endParaRPr lang="en-IN" dirty="0"/>
          </a:p>
        </p:txBody>
      </p:sp>
      <p:sp>
        <p:nvSpPr>
          <p:cNvPr id="7" name="Content Placeholder 2">
            <a:extLst>
              <a:ext uri="{FF2B5EF4-FFF2-40B4-BE49-F238E27FC236}">
                <a16:creationId xmlns:a16="http://schemas.microsoft.com/office/drawing/2014/main" id="{35E67F80-B281-6614-38BA-591613F14503}"/>
              </a:ext>
            </a:extLst>
          </p:cNvPr>
          <p:cNvSpPr txBox="1">
            <a:spLocks/>
          </p:cNvSpPr>
          <p:nvPr/>
        </p:nvSpPr>
        <p:spPr>
          <a:xfrm>
            <a:off x="4426769" y="2506466"/>
            <a:ext cx="3068368" cy="3318936"/>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Efficiency-focused.</a:t>
            </a:r>
          </a:p>
          <a:p>
            <a:r>
              <a:rPr lang="en-US" b="1" dirty="0"/>
              <a:t>How it works</a:t>
            </a:r>
            <a:r>
              <a:rPr lang="en-US" dirty="0"/>
              <a:t>: Lean focuses on eliminating waste and increasing value by improving processes. The goal is to deliver value to the customer faster, with fewer resources, and in a way that minimizes delays.</a:t>
            </a:r>
          </a:p>
          <a:p>
            <a:pPr marL="0" indent="0">
              <a:buNone/>
            </a:pPr>
            <a:endParaRPr lang="en-IN" dirty="0"/>
          </a:p>
        </p:txBody>
      </p:sp>
    </p:spTree>
    <p:extLst>
      <p:ext uri="{BB962C8B-B14F-4D97-AF65-F5344CB8AC3E}">
        <p14:creationId xmlns:p14="http://schemas.microsoft.com/office/powerpoint/2010/main" val="2193424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788B3-57AC-E0FF-F726-B7479BCB2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62EB9-7BE7-C4F7-EC01-A128254F3C51}"/>
              </a:ext>
            </a:extLst>
          </p:cNvPr>
          <p:cNvSpPr>
            <a:spLocks noGrp="1"/>
          </p:cNvSpPr>
          <p:nvPr>
            <p:ph type="title"/>
          </p:nvPr>
        </p:nvSpPr>
        <p:spPr>
          <a:xfrm>
            <a:off x="1295401" y="982132"/>
            <a:ext cx="3068368" cy="1303867"/>
          </a:xfrm>
        </p:spPr>
        <p:txBody>
          <a:bodyPr>
            <a:normAutofit fontScale="90000"/>
          </a:bodyPr>
          <a:lstStyle/>
          <a:p>
            <a:r>
              <a:rPr lang="en-IN" dirty="0"/>
              <a:t>Critical Path Method(CPM)</a:t>
            </a:r>
          </a:p>
        </p:txBody>
      </p:sp>
      <p:sp>
        <p:nvSpPr>
          <p:cNvPr id="3" name="Content Placeholder 2">
            <a:extLst>
              <a:ext uri="{FF2B5EF4-FFF2-40B4-BE49-F238E27FC236}">
                <a16:creationId xmlns:a16="http://schemas.microsoft.com/office/drawing/2014/main" id="{262C2364-2529-76D5-8E7D-AF3DD3304B42}"/>
              </a:ext>
            </a:extLst>
          </p:cNvPr>
          <p:cNvSpPr>
            <a:spLocks noGrp="1"/>
          </p:cNvSpPr>
          <p:nvPr>
            <p:ph idx="1"/>
          </p:nvPr>
        </p:nvSpPr>
        <p:spPr>
          <a:xfrm>
            <a:off x="7675833" y="2506466"/>
            <a:ext cx="3068368" cy="3318936"/>
          </a:xfrm>
        </p:spPr>
        <p:txBody>
          <a:bodyPr>
            <a:normAutofit fontScale="70000" lnSpcReduction="20000"/>
          </a:bodyPr>
          <a:lstStyle/>
          <a:p>
            <a:r>
              <a:rPr lang="en-IN" b="1" dirty="0"/>
              <a:t>Approach</a:t>
            </a:r>
            <a:r>
              <a:rPr lang="en-IN" dirty="0"/>
              <a:t>: </a:t>
            </a:r>
            <a:r>
              <a:rPr lang="en-US" dirty="0"/>
              <a:t>A mix of traditional and Agile methods.</a:t>
            </a:r>
            <a:endParaRPr lang="en-IN" dirty="0"/>
          </a:p>
          <a:p>
            <a:r>
              <a:rPr lang="en-US" b="1" dirty="0"/>
              <a:t>How it works</a:t>
            </a:r>
            <a:r>
              <a:rPr lang="en-US" dirty="0"/>
              <a:t>: Hybrid models combine the flexibility of Agile with the structure of traditional project management approaches like Waterfall. This allows for more adaptability in the execution phases while maintaining control over the overall project.</a:t>
            </a:r>
            <a:endParaRPr lang="en-IN" dirty="0"/>
          </a:p>
        </p:txBody>
      </p:sp>
      <p:sp>
        <p:nvSpPr>
          <p:cNvPr id="4" name="Title 1">
            <a:extLst>
              <a:ext uri="{FF2B5EF4-FFF2-40B4-BE49-F238E27FC236}">
                <a16:creationId xmlns:a16="http://schemas.microsoft.com/office/drawing/2014/main" id="{2866EFE6-1FA9-A1B5-FC4F-075573603561}"/>
              </a:ext>
            </a:extLst>
          </p:cNvPr>
          <p:cNvSpPr txBox="1">
            <a:spLocks/>
          </p:cNvSpPr>
          <p:nvPr/>
        </p:nvSpPr>
        <p:spPr>
          <a:xfrm>
            <a:off x="4363769" y="975928"/>
            <a:ext cx="3068368" cy="1303867"/>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Critical Chain Project Management (CCPM)</a:t>
            </a:r>
          </a:p>
        </p:txBody>
      </p:sp>
      <p:sp>
        <p:nvSpPr>
          <p:cNvPr id="5" name="Title 1">
            <a:extLst>
              <a:ext uri="{FF2B5EF4-FFF2-40B4-BE49-F238E27FC236}">
                <a16:creationId xmlns:a16="http://schemas.microsoft.com/office/drawing/2014/main" id="{00D4F344-44E4-9B1F-6E8B-2FB98AC866C1}"/>
              </a:ext>
            </a:extLst>
          </p:cNvPr>
          <p:cNvSpPr txBox="1">
            <a:spLocks/>
          </p:cNvSpPr>
          <p:nvPr/>
        </p:nvSpPr>
        <p:spPr>
          <a:xfrm>
            <a:off x="7432137" y="982132"/>
            <a:ext cx="3068368" cy="1303867"/>
          </a:xfrm>
          <a:prstGeom prst="rect">
            <a:avLst/>
          </a:prstGeom>
          <a:effectLst/>
        </p:spPr>
        <p:txBody>
          <a:bodyPr vert="horz" lIns="91440" tIns="45720" rIns="91440" bIns="45720" rtlCol="0" anchor="ctr">
            <a:normAutofit fontScale="97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Hybrid Model</a:t>
            </a:r>
          </a:p>
        </p:txBody>
      </p:sp>
      <p:sp>
        <p:nvSpPr>
          <p:cNvPr id="6" name="Content Placeholder 2">
            <a:extLst>
              <a:ext uri="{FF2B5EF4-FFF2-40B4-BE49-F238E27FC236}">
                <a16:creationId xmlns:a16="http://schemas.microsoft.com/office/drawing/2014/main" id="{DBD9C78C-EB6E-3818-EF05-1C17D542BEB8}"/>
              </a:ext>
            </a:extLst>
          </p:cNvPr>
          <p:cNvSpPr txBox="1">
            <a:spLocks/>
          </p:cNvSpPr>
          <p:nvPr/>
        </p:nvSpPr>
        <p:spPr>
          <a:xfrm>
            <a:off x="1295401" y="2506466"/>
            <a:ext cx="3068368" cy="3318936"/>
          </a:xfrm>
          <a:prstGeom prst="rect">
            <a:avLst/>
          </a:prstGeom>
        </p:spPr>
        <p:txBody>
          <a:bodyPr vert="horz" lIns="91440" tIns="45720" rIns="91440" bIns="45720" rtlCol="0" anchor="t">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Focuses on task sequencing.</a:t>
            </a:r>
          </a:p>
          <a:p>
            <a:r>
              <a:rPr lang="en-US" b="1" dirty="0"/>
              <a:t>How it works</a:t>
            </a:r>
            <a:r>
              <a:rPr lang="en-US" dirty="0"/>
              <a:t>: CPM identifies the critical path (the longest sequence of tasks that must be completed on time) to ensure the project is finished on schedule. Delays in critical tasks delay the whole project.</a:t>
            </a:r>
            <a:endParaRPr lang="en-IN" dirty="0"/>
          </a:p>
        </p:txBody>
      </p:sp>
      <p:sp>
        <p:nvSpPr>
          <p:cNvPr id="7" name="Content Placeholder 2">
            <a:extLst>
              <a:ext uri="{FF2B5EF4-FFF2-40B4-BE49-F238E27FC236}">
                <a16:creationId xmlns:a16="http://schemas.microsoft.com/office/drawing/2014/main" id="{D31C30F8-C16B-974C-37CF-43D71400626F}"/>
              </a:ext>
            </a:extLst>
          </p:cNvPr>
          <p:cNvSpPr txBox="1">
            <a:spLocks/>
          </p:cNvSpPr>
          <p:nvPr/>
        </p:nvSpPr>
        <p:spPr>
          <a:xfrm>
            <a:off x="4426769" y="2506466"/>
            <a:ext cx="3068368" cy="3318936"/>
          </a:xfrm>
          <a:prstGeom prst="rect">
            <a:avLst/>
          </a:prstGeom>
        </p:spPr>
        <p:txBody>
          <a:bodyPr vert="horz" lIns="91440" tIns="45720" rIns="91440" bIns="45720" rtlCol="0" anchor="t">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b="1" dirty="0"/>
              <a:t>Approach</a:t>
            </a:r>
            <a:r>
              <a:rPr lang="en-IN" dirty="0"/>
              <a:t>: Resource-focused.</a:t>
            </a:r>
          </a:p>
          <a:p>
            <a:r>
              <a:rPr lang="en-US" b="1" dirty="0"/>
              <a:t>How it works</a:t>
            </a:r>
            <a:r>
              <a:rPr lang="en-US" dirty="0"/>
              <a:t>: CCPM focuses on managing project schedules by considering resource constraints. Unlike CPM, which focuses only on task dependencies, CCPM also looks at resource availability and buffers to account for uncertainties.</a:t>
            </a:r>
            <a:endParaRPr lang="en-IN" dirty="0"/>
          </a:p>
        </p:txBody>
      </p:sp>
    </p:spTree>
    <p:extLst>
      <p:ext uri="{BB962C8B-B14F-4D97-AF65-F5344CB8AC3E}">
        <p14:creationId xmlns:p14="http://schemas.microsoft.com/office/powerpoint/2010/main" val="135593546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34</TotalTime>
  <Words>465</Words>
  <Application>Microsoft Office PowerPoint</Application>
  <PresentationFormat>Widescreen</PresentationFormat>
  <Paragraphs>32</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Garamond</vt:lpstr>
      <vt:lpstr>Organic</vt:lpstr>
      <vt:lpstr>Project Management Model</vt:lpstr>
      <vt:lpstr>Waterfall Model</vt:lpstr>
      <vt:lpstr>Kanban Model</vt:lpstr>
      <vt:lpstr>Critical Path Method(CPM)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dc:creator>
  <cp:lastModifiedBy>Ravi</cp:lastModifiedBy>
  <cp:revision>1</cp:revision>
  <dcterms:created xsi:type="dcterms:W3CDTF">2025-11-25T13:47:12Z</dcterms:created>
  <dcterms:modified xsi:type="dcterms:W3CDTF">2025-11-25T14:21:23Z</dcterms:modified>
</cp:coreProperties>
</file>